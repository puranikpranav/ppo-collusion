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45"/>
  </p:normalViewPr>
  <p:slideViewPr>
    <p:cSldViewPr snapToGrid="0" snapToObjects="1">
      <p:cViewPr varScale="1">
        <p:scale>
          <a:sx n="113" d="100"/>
          <a:sy n="113" d="100"/>
        </p:scale>
        <p:origin x="54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Tacit Collusion in Electricity Markets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AACCEE"/>
                </a:solidFill>
                <a:latin typeface="Calibri"/>
              </a:defRPr>
            </a:pPr>
            <a:r>
              <a:t>Multi-Agent PPO on a 5-Bus DC-OPF Network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999BB"/>
                </a:solidFill>
                <a:latin typeface="Calibri"/>
              </a:defRPr>
            </a:pPr>
            <a:r>
              <a:t>Pranav Puranik  |  Advisor: Dr. Liu  |  March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840480"/>
            <a:ext cx="2743200" cy="36576"/>
          </a:xfrm>
          <a:prstGeom prst="rect">
            <a:avLst/>
          </a:prstGeom>
          <a:solidFill>
            <a:srgbClr val="006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6B9F"/>
                </a:solidFill>
                <a:latin typeface="Calibri"/>
              </a:defRPr>
            </a:pPr>
            <a:r>
              <a:t>Research Question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6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Calibri"/>
              </a:defRPr>
            </a:pPr>
            <a:r>
              <a:t>Can independent reinforcement learning agents learn to tacitly collude</a:t>
            </a:r>
            <a:br/>
            <a:r>
              <a:t>in a realistic electricity market with network constraints?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9601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555555"/>
                </a:solidFill>
                <a:latin typeface="Calibri"/>
              </a:defRPr>
            </a:pPr>
            <a:r>
              <a:rPr dirty="0"/>
              <a:t>Calvano et al. (2021) showed Q-learning agents collude in simple Cournot markets</a:t>
            </a:r>
          </a:p>
          <a:p>
            <a:pPr>
              <a:spcAft>
                <a:spcPts val="800"/>
              </a:spcAft>
              <a:defRPr sz="2000">
                <a:solidFill>
                  <a:srgbClr val="555555"/>
                </a:solidFill>
                <a:latin typeface="Calibri"/>
              </a:defRPr>
            </a:pPr>
            <a:r>
              <a:rPr dirty="0"/>
              <a:t>We extend this to: asymmetric firms, DC-OPF network, continuous actions, PPO</a:t>
            </a:r>
          </a:p>
          <a:p>
            <a:pPr>
              <a:spcAft>
                <a:spcPts val="800"/>
              </a:spcAft>
              <a:defRPr sz="2000">
                <a:solidFill>
                  <a:srgbClr val="555555"/>
                </a:solidFill>
                <a:latin typeface="Calibri"/>
              </a:defRPr>
            </a:pPr>
            <a:r>
              <a:rPr dirty="0"/>
              <a:t>Key metric: normalized profit gain  </a:t>
            </a:r>
            <a:r>
              <a:rPr dirty="0" err="1"/>
              <a:t>Δ</a:t>
            </a:r>
            <a:r>
              <a:rPr dirty="0"/>
              <a:t> = (π – π_C) / (π_M – π_C)</a:t>
            </a:r>
          </a:p>
          <a:p>
            <a:pPr>
              <a:spcAft>
                <a:spcPts val="800"/>
              </a:spcAft>
              <a:defRPr sz="2000">
                <a:solidFill>
                  <a:srgbClr val="555555"/>
                </a:solidFill>
                <a:latin typeface="Calibri"/>
              </a:defRPr>
            </a:pPr>
            <a:r>
              <a:rPr dirty="0"/>
              <a:t>    </a:t>
            </a:r>
            <a:r>
              <a:rPr dirty="0" err="1"/>
              <a:t>Δ</a:t>
            </a:r>
            <a:r>
              <a:rPr dirty="0"/>
              <a:t> = 0: competitive outcome  |  </a:t>
            </a:r>
            <a:r>
              <a:rPr dirty="0" err="1"/>
              <a:t>Δ</a:t>
            </a:r>
            <a:r>
              <a:rPr dirty="0"/>
              <a:t> = 1: joint monopoly  |  </a:t>
            </a:r>
            <a:r>
              <a:rPr dirty="0" err="1"/>
              <a:t>Δ</a:t>
            </a:r>
            <a:r>
              <a:rPr dirty="0"/>
              <a:t> &gt; 0: collusion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6B9F"/>
                </a:solidFill>
                <a:latin typeface="Calibri"/>
              </a:defRPr>
            </a:pPr>
            <a:r>
              <a:t>Market Setup: 5-Bus Network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6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555555"/>
                </a:solidFill>
                <a:latin typeface="Calibri"/>
              </a:defRPr>
            </a:pPr>
            <a:r>
              <a:t>5-bus DC network with PTDF line constraints</a:t>
            </a:r>
          </a:p>
          <a:p>
            <a:pPr>
              <a:spcAft>
                <a:spcPts val="800"/>
              </a:spcAft>
              <a:defRPr sz="1800">
                <a:solidFill>
                  <a:srgbClr val="555555"/>
                </a:solidFill>
                <a:latin typeface="Calibri"/>
              </a:defRPr>
            </a:pPr>
            <a:r>
              <a:t>Firm 0: 2 plants (Node 1: 150 MW, Node 2: 50 MW)</a:t>
            </a:r>
          </a:p>
          <a:p>
            <a:pPr>
              <a:spcAft>
                <a:spcPts val="800"/>
              </a:spcAft>
              <a:defRPr sz="1800">
                <a:solidFill>
                  <a:srgbClr val="555555"/>
                </a:solidFill>
                <a:latin typeface="Calibri"/>
              </a:defRPr>
            </a:pPr>
            <a:r>
              <a:t>Firm 1: 1 plant (Node 2: 100 MW)</a:t>
            </a:r>
          </a:p>
          <a:p>
            <a:pPr>
              <a:spcAft>
                <a:spcPts val="800"/>
              </a:spcAft>
              <a:defRPr sz="1800">
                <a:solidFill>
                  <a:srgbClr val="555555"/>
                </a:solidFill>
                <a:latin typeface="Calibri"/>
              </a:defRPr>
            </a:pPr>
            <a:r>
              <a:t>Quadratic cost: mc·g + ½·qc·g² per plant</a:t>
            </a:r>
          </a:p>
          <a:p>
            <a:pPr>
              <a:spcAft>
                <a:spcPts val="800"/>
              </a:spcAft>
              <a:defRPr sz="1800">
                <a:solidFill>
                  <a:srgbClr val="555555"/>
                </a:solidFill>
                <a:latin typeface="Calibri"/>
              </a:defRPr>
            </a:pPr>
            <a:r>
              <a:t>Linear inverse demand at each node</a:t>
            </a:r>
          </a:p>
          <a:p>
            <a:pPr>
              <a:spcAft>
                <a:spcPts val="800"/>
              </a:spcAft>
              <a:defRPr sz="1800">
                <a:solidFill>
                  <a:srgbClr val="555555"/>
                </a:solidFill>
                <a:latin typeface="Calibri"/>
              </a:defRPr>
            </a:pPr>
            <a:r>
              <a:t>ISO clears market via DC-OPF each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t>Benchmarks (computed once)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0" y="2011680"/>
          <a:ext cx="48463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5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5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5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06B9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Competitive</a:t>
                      </a:r>
                    </a:p>
                  </a:txBody>
                  <a:tcPr>
                    <a:solidFill>
                      <a:srgbClr val="006B9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Monopoly</a:t>
                      </a:r>
                    </a:p>
                  </a:txBody>
                  <a:tcPr>
                    <a:solidFill>
                      <a:srgbClr val="006B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Avg LMP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$23.49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higher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F0 profit/step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π_C(F0)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π_M(F0)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F1 profit/step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π_C(F1)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π_M(F1)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1.0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6B9F"/>
                </a:solidFill>
                <a:latin typeface="Calibri"/>
              </a:defRPr>
            </a:pPr>
            <a:r>
              <a:t>PPO Agent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6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555555"/>
                </a:solidFill>
                <a:latin typeface="Calibri"/>
              </a:defRPr>
            </a:pPr>
            <a:r>
              <a:t>Independent PPO (IPPO): one agent per firm</a:t>
            </a:r>
          </a:p>
          <a:p>
            <a:pPr>
              <a:spcAft>
                <a:spcPts val="800"/>
              </a:spcAft>
              <a:defRPr sz="1800">
                <a:solidFill>
                  <a:srgbClr val="555555"/>
                </a:solidFill>
                <a:latin typeface="Calibri"/>
              </a:defRPr>
            </a:pPr>
            <a:r>
              <a:t>Actor: MLP → Gaussian mean per plant</a:t>
            </a:r>
          </a:p>
          <a:p>
            <a:pPr>
              <a:spcAft>
                <a:spcPts val="800"/>
              </a:spcAft>
              <a:defRPr sz="1800">
                <a:solidFill>
                  <a:srgbClr val="555555"/>
                </a:solidFill>
                <a:latin typeface="Calibri"/>
              </a:defRPr>
            </a:pPr>
            <a:r>
              <a:t>    Learnable log-std for exploration</a:t>
            </a:r>
          </a:p>
          <a:p>
            <a:pPr>
              <a:spcAft>
                <a:spcPts val="800"/>
              </a:spcAft>
              <a:defRPr sz="1800">
                <a:solidFill>
                  <a:srgbClr val="555555"/>
                </a:solidFill>
                <a:latin typeface="Calibri"/>
              </a:defRPr>
            </a:pPr>
            <a:r>
              <a:t>    Sigmoid × capacity → MW dispatch</a:t>
            </a:r>
          </a:p>
          <a:p>
            <a:pPr>
              <a:spcAft>
                <a:spcPts val="800"/>
              </a:spcAft>
              <a:defRPr sz="1800">
                <a:solidFill>
                  <a:srgbClr val="555555"/>
                </a:solidFill>
                <a:latin typeface="Calibri"/>
              </a:defRPr>
            </a:pPr>
            <a:r>
              <a:t>Critic: MLP → scalar V(s)</a:t>
            </a:r>
          </a:p>
          <a:p>
            <a:pPr>
              <a:spcAft>
                <a:spcPts val="800"/>
              </a:spcAft>
              <a:defRPr sz="1800">
                <a:solidFill>
                  <a:srgbClr val="555555"/>
                </a:solidFill>
                <a:latin typeface="Calibri"/>
              </a:defRPr>
            </a:pPr>
            <a:r>
              <a:t>Shared Adam optimizer (lr = 3e-4)</a:t>
            </a:r>
          </a:p>
          <a:p>
            <a:pPr>
              <a:spcAft>
                <a:spcPts val="800"/>
              </a:spcAft>
              <a:defRPr sz="1800">
                <a:solidFill>
                  <a:srgbClr val="555555"/>
                </a:solidFill>
                <a:latin typeface="Calibri"/>
              </a:defRPr>
            </a:pPr>
            <a:r>
              <a:t>Architecture: 2 hidden layers, 64 units, Tanh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t>Dimensions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0" y="2011680"/>
          <a:ext cx="48463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5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5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5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006B9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Firm 0</a:t>
                      </a:r>
                    </a:p>
                  </a:txBody>
                  <a:tcPr>
                    <a:solidFill>
                      <a:srgbClr val="006B9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Firm 1</a:t>
                      </a:r>
                    </a:p>
                  </a:txBody>
                  <a:tcPr>
                    <a:solidFill>
                      <a:srgbClr val="006B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Observation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5 × 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5 × 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Action (plants)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Action range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[0,150]+[0,50]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[0,100]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Hidden layers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64-64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64-64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6B9F"/>
                </a:solidFill>
                <a:latin typeface="Calibri"/>
              </a:defRPr>
            </a:pPr>
            <a:r>
              <a:t>Training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6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371600"/>
          <a:ext cx="100584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2514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Concept</a:t>
                      </a:r>
                    </a:p>
                  </a:txBody>
                  <a:tcPr>
                    <a:solidFill>
                      <a:srgbClr val="006B9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Meaning</a:t>
                      </a:r>
                    </a:p>
                  </a:txBody>
                  <a:tcPr>
                    <a:solidFill>
                      <a:srgbClr val="006B9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006B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Step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One env.step (1 hour of dispatch)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~110K to converge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Episode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168 consecutive steps (1 week)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168 steps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Rollout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Steps before one PPO update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2,048 steps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PPO Update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GAE + clipped surrogate + value loss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After each rollout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One seed → train → converge/stop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50 per 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2516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Max Timesteps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Safety cap per session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5,000,000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5486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55"/>
                </a:solidFill>
                <a:latin typeface="Calibri"/>
              </a:defRPr>
            </a:pPr>
            <a:r>
              <a:t>Flow:  Agents act → ISO clears (DC-OPF) → LMPs + profit → buffer stores transition → every 2048 steps: PPO update → repeat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6B9F"/>
                </a:solidFill>
                <a:latin typeface="Calibri"/>
              </a:defRPr>
            </a:pPr>
            <a:r>
              <a:t>Convergence: Δ-Stability Criterion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6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555555"/>
                </a:solidFill>
                <a:latin typeface="Calibri"/>
              </a:defRPr>
            </a:pPr>
            <a:r>
              <a:t>Calvano (Q-learning): greedy action unchanged at all states for 100,000 consecutive periods</a:t>
            </a:r>
          </a:p>
          <a:p>
            <a:pPr>
              <a:spcAft>
                <a:spcPts val="800"/>
              </a:spcAft>
              <a:defRPr sz="1800">
                <a:solidFill>
                  <a:srgbClr val="555555"/>
                </a:solidFill>
                <a:latin typeface="Calibri"/>
              </a:defRPr>
            </a:pPr>
            <a:r>
              <a:t>Our adaptation for continuous PPO actions:</a:t>
            </a:r>
          </a:p>
          <a:p>
            <a:pPr>
              <a:spcAft>
                <a:spcPts val="800"/>
              </a:spcAft>
              <a:defRPr sz="1800">
                <a:solidFill>
                  <a:srgbClr val="555555"/>
                </a:solidFill>
                <a:latin typeface="Calibri"/>
              </a:defRPr>
            </a:pPr>
            <a:r>
              <a:t>    After each PPO update, compute Δ for both firms from recent episode profits</a:t>
            </a:r>
          </a:p>
          <a:p>
            <a:pPr>
              <a:spcAft>
                <a:spcPts val="800"/>
              </a:spcAft>
              <a:defRPr sz="1800">
                <a:solidFill>
                  <a:srgbClr val="555555"/>
                </a:solidFill>
                <a:latin typeface="Calibri"/>
              </a:defRPr>
            </a:pPr>
            <a:r>
              <a:t>    If max |Δ_new – Δ_old| &lt; 0.02 for all firms: increment stable_count</a:t>
            </a:r>
          </a:p>
          <a:p>
            <a:pPr>
              <a:spcAft>
                <a:spcPts val="800"/>
              </a:spcAft>
              <a:defRPr sz="1800">
                <a:solidFill>
                  <a:srgbClr val="555555"/>
                </a:solidFill>
                <a:latin typeface="Calibri"/>
              </a:defRPr>
            </a:pPr>
            <a:r>
              <a:t>    If stable_count ≥ 50 consecutive updates (~102K steps): declare converged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t>Why not MW-based?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66344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555555"/>
                </a:solidFill>
                <a:latin typeface="Calibri"/>
              </a:defRPr>
            </a:pPr>
            <a:r>
              <a:t>Continuous policies always drift slightly in raw output (±0.1–2 MW per update)</a:t>
            </a:r>
          </a:p>
          <a:p>
            <a:pPr>
              <a:spcAft>
                <a:spcPts val="800"/>
              </a:spcAft>
              <a:defRPr sz="1600">
                <a:solidFill>
                  <a:srgbClr val="555555"/>
                </a:solidFill>
                <a:latin typeface="Calibri"/>
              </a:defRPr>
            </a:pPr>
            <a:r>
              <a:t>Calvano's discrete argmax either flips or doesn't — binary check. Not possible with continuous actions.</a:t>
            </a:r>
          </a:p>
          <a:p>
            <a:pPr>
              <a:spcAft>
                <a:spcPts val="800"/>
              </a:spcAft>
              <a:defRPr sz="1600">
                <a:solidFill>
                  <a:srgbClr val="555555"/>
                </a:solidFill>
                <a:latin typeface="Calibri"/>
              </a:defRPr>
            </a:pPr>
            <a:r>
              <a:t>Δ-stability checks the economic outcome directly: has the profit level settled?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6B9F"/>
                </a:solidFill>
                <a:latin typeface="Calibri"/>
              </a:defRPr>
            </a:pPr>
            <a:r>
              <a:t>Results: H = 1  (50 sessions)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6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371600"/>
          <a:ext cx="10058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06B9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Firm 0 (large)</a:t>
                      </a:r>
                    </a:p>
                  </a:txBody>
                  <a:tcPr>
                    <a:solidFill>
                      <a:srgbClr val="006B9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Firm 1 (small)</a:t>
                      </a:r>
                    </a:p>
                  </a:txBody>
                  <a:tcPr>
                    <a:solidFill>
                      <a:srgbClr val="006B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Final Δ (mean ± std)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0.441 ± 0.040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1.718 ± 0.092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Interpretation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44% of collusion gap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Free-rides above monopoly share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Convergence step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~110K ± 10.5K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~110K ± 10.5K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Converged?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All 50 sessions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All 50 sessions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t>Key 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12064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555555"/>
                </a:solidFill>
                <a:latin typeface="Calibri"/>
              </a:defRPr>
            </a:pPr>
            <a:r>
              <a:t>Both firms earn above competitive profits (Δ &gt; 0) → tacit collusion emerges</a:t>
            </a:r>
          </a:p>
          <a:p>
            <a:pPr>
              <a:spcAft>
                <a:spcPts val="800"/>
              </a:spcAft>
              <a:defRPr sz="1600">
                <a:solidFill>
                  <a:srgbClr val="555555"/>
                </a:solidFill>
                <a:latin typeface="Calibri"/>
              </a:defRPr>
            </a:pPr>
            <a:r>
              <a:t>Firm 0 (larger, 200 MW) restricts output → bears the cost of restraint</a:t>
            </a:r>
          </a:p>
          <a:p>
            <a:pPr>
              <a:spcAft>
                <a:spcPts val="800"/>
              </a:spcAft>
              <a:defRPr sz="1600">
                <a:solidFill>
                  <a:srgbClr val="555555"/>
                </a:solidFill>
                <a:latin typeface="Calibri"/>
              </a:defRPr>
            </a:pPr>
            <a:r>
              <a:t>Firm 1 (smaller, 100 MW) free-rides on higher prices → Δ &gt; 1</a:t>
            </a:r>
          </a:p>
          <a:p>
            <a:pPr>
              <a:spcAft>
                <a:spcPts val="800"/>
              </a:spcAft>
              <a:defRPr sz="1600">
                <a:solidFill>
                  <a:srgbClr val="555555"/>
                </a:solidFill>
                <a:latin typeface="Calibri"/>
              </a:defRPr>
            </a:pPr>
            <a:r>
              <a:t>Consistent with asymmetric Cournot theory: smaller firms benefit disproportionately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6B9F"/>
                </a:solidFill>
                <a:latin typeface="Calibri"/>
              </a:defRPr>
            </a:pPr>
            <a:r>
              <a:t>Comparison with Calvano et al. (2021)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6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Aspect</a:t>
                      </a:r>
                    </a:p>
                  </a:txBody>
                  <a:tcPr>
                    <a:solidFill>
                      <a:srgbClr val="006B9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Calvano</a:t>
                      </a:r>
                    </a:p>
                  </a:txBody>
                  <a:tcPr>
                    <a:solidFill>
                      <a:srgbClr val="006B9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Our Work</a:t>
                      </a:r>
                    </a:p>
                  </a:txBody>
                  <a:tcPr>
                    <a:solidFill>
                      <a:srgbClr val="006B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Algorithm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Q-learning (tabular)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PPO (neural network)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Action space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15 discrete levels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Continuous [0, cap] MW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Firms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 symmetric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 asymmetric (different costs, caps)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Network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Single node, no constraints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5-bus DC-OPF with line limits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Monitoring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Imperfect (stochastic demand)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Imperfect (LMP history only)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Convergence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Argmax unchanged 100K periods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Δ-stable for 50 updates (~102K steps)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Sessions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Δ result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~0.76 (symmetric)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F0: 0.44, F1: 1.72 (asymmetric)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6B9F"/>
                </a:solidFill>
                <a:latin typeface="Calibri"/>
              </a:defRPr>
            </a:pPr>
            <a:r>
              <a:t>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6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1652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555555"/>
                </a:solidFill>
                <a:latin typeface="Calibri"/>
              </a:defRPr>
            </a:pPr>
            <a:r>
              <a:rPr dirty="0"/>
              <a:t>H = 2 and H = 3 jobs queued on Gilbreth (running next)</a:t>
            </a:r>
          </a:p>
          <a:p>
            <a:pPr>
              <a:spcAft>
                <a:spcPts val="800"/>
              </a:spcAft>
              <a:defRPr sz="1800">
                <a:solidFill>
                  <a:srgbClr val="555555"/>
                </a:solidFill>
                <a:latin typeface="Calibri"/>
              </a:defRPr>
            </a:pPr>
            <a:r>
              <a:rPr dirty="0"/>
              <a:t>    Does longer memory enable better punishment strategies?</a:t>
            </a:r>
          </a:p>
          <a:p>
            <a:pPr>
              <a:spcAft>
                <a:spcPts val="800"/>
              </a:spcAft>
              <a:defRPr sz="1800">
                <a:solidFill>
                  <a:srgbClr val="555555"/>
                </a:solidFill>
                <a:latin typeface="Calibri"/>
              </a:defRPr>
            </a:pPr>
            <a:r>
              <a:rPr dirty="0"/>
              <a:t>    Calvano found H=2 similar, H=3 slightly lower </a:t>
            </a:r>
            <a:r>
              <a:rPr dirty="0" err="1"/>
              <a:t>Δ</a:t>
            </a:r>
            <a:r>
              <a:rPr dirty="0"/>
              <a:t> (bigger state space hinders learning)</a:t>
            </a:r>
          </a:p>
          <a:p>
            <a:pPr>
              <a:spcAft>
                <a:spcPts val="800"/>
              </a:spcAft>
              <a:defRPr sz="1800">
                <a:solidFill>
                  <a:srgbClr val="555555"/>
                </a:solidFill>
                <a:latin typeface="Calibri"/>
              </a:defRPr>
            </a:pPr>
            <a:endParaRPr dirty="0"/>
          </a:p>
          <a:p>
            <a:pPr>
              <a:spcAft>
                <a:spcPts val="800"/>
              </a:spcAft>
              <a:defRPr sz="1800">
                <a:solidFill>
                  <a:srgbClr val="555555"/>
                </a:solidFill>
                <a:latin typeface="Calibri"/>
              </a:defRPr>
            </a:pPr>
            <a:r>
              <a:rPr dirty="0"/>
              <a:t>Analyze limit strategies and impulse responses across sessions</a:t>
            </a:r>
          </a:p>
          <a:p>
            <a:pPr>
              <a:spcAft>
                <a:spcPts val="800"/>
              </a:spcAft>
              <a:defRPr sz="1800">
                <a:solidFill>
                  <a:srgbClr val="555555"/>
                </a:solidFill>
                <a:latin typeface="Calibri"/>
              </a:defRPr>
            </a:pPr>
            <a:r>
              <a:rPr dirty="0"/>
              <a:t>    Does the average strategy show Calvano-style decreasing output vs. price?</a:t>
            </a:r>
          </a:p>
          <a:p>
            <a:pPr>
              <a:spcAft>
                <a:spcPts val="800"/>
              </a:spcAft>
              <a:defRPr sz="1800">
                <a:solidFill>
                  <a:srgbClr val="555555"/>
                </a:solidFill>
                <a:latin typeface="Calibri"/>
              </a:defRPr>
            </a:pPr>
            <a:endParaRPr dirty="0"/>
          </a:p>
          <a:p>
            <a:pPr>
              <a:spcAft>
                <a:spcPts val="800"/>
              </a:spcAft>
              <a:defRPr sz="1800">
                <a:solidFill>
                  <a:srgbClr val="555555"/>
                </a:solidFill>
                <a:latin typeface="Calibri"/>
              </a:defRPr>
            </a:pPr>
            <a:r>
              <a:rPr dirty="0"/>
              <a:t>Investigate the asymmetry: why </a:t>
            </a:r>
            <a:r>
              <a:rPr dirty="0" err="1"/>
              <a:t>Δ</a:t>
            </a:r>
            <a:r>
              <a:rPr dirty="0"/>
              <a:t>(F1) &gt;&gt; 1</a:t>
            </a:r>
          </a:p>
          <a:p>
            <a:pPr>
              <a:spcAft>
                <a:spcPts val="800"/>
              </a:spcAft>
              <a:defRPr sz="1800">
                <a:solidFill>
                  <a:srgbClr val="555555"/>
                </a:solidFill>
                <a:latin typeface="Calibri"/>
              </a:defRPr>
            </a:pPr>
            <a:r>
              <a:rPr dirty="0"/>
              <a:t>    Compare with Nash-Cournot equilibrium</a:t>
            </a:r>
          </a:p>
          <a:p>
            <a:pPr>
              <a:spcAft>
                <a:spcPts val="800"/>
              </a:spcAft>
              <a:defRPr sz="1800">
                <a:solidFill>
                  <a:srgbClr val="555555"/>
                </a:solidFill>
                <a:latin typeface="Calibri"/>
              </a:defRPr>
            </a:pPr>
            <a:r>
              <a:rPr dirty="0"/>
              <a:t>    </a:t>
            </a:r>
          </a:p>
          <a:p>
            <a:pPr>
              <a:spcAft>
                <a:spcPts val="800"/>
              </a:spcAft>
              <a:defRPr sz="1800">
                <a:solidFill>
                  <a:srgbClr val="555555"/>
                </a:solidFill>
                <a:latin typeface="Calibri"/>
              </a:defRPr>
            </a:pPr>
            <a:r>
              <a:rPr dirty="0"/>
              <a:t>Robustness: vary number of PPO epochs, learning rate, episode length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</TotalTime>
  <Words>868</Words>
  <Application>Microsoft Macintosh PowerPoint</Application>
  <PresentationFormat>Widescreen</PresentationFormat>
  <Paragraphs>150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Pranav Madhav Puranik</cp:lastModifiedBy>
  <cp:revision>3</cp:revision>
  <dcterms:created xsi:type="dcterms:W3CDTF">2013-01-27T09:14:16Z</dcterms:created>
  <dcterms:modified xsi:type="dcterms:W3CDTF">2026-03-23T23:44:16Z</dcterms:modified>
  <cp:category/>
</cp:coreProperties>
</file>